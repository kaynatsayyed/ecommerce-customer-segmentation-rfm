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0"/>
  </p:notesMasterIdLst>
  <p:sldIdLst>
    <p:sldId id="257" r:id="rId2"/>
    <p:sldId id="258" r:id="rId3"/>
    <p:sldId id="259" r:id="rId4"/>
    <p:sldId id="261" r:id="rId5"/>
    <p:sldId id="262" r:id="rId6"/>
    <p:sldId id="266" r:id="rId7"/>
    <p:sldId id="265" r:id="rId8"/>
    <p:sldId id="268" r:id="rId9"/>
    <p:sldId id="275" r:id="rId10"/>
    <p:sldId id="269" r:id="rId11"/>
    <p:sldId id="276" r:id="rId12"/>
    <p:sldId id="277" r:id="rId13"/>
    <p:sldId id="278"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B899-4B3C-4144-9A2D-619E7786CBF7}" type="datetimeFigureOut">
              <a:rPr lang="en-IN" smtClean="0"/>
              <a:t>13-10-2025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0CC30-256E-4FBE-B7D3-35AA00BCEAD2}" type="slidenum">
              <a:rPr lang="en-IN" smtClean="0"/>
              <a:t>‹#›</a:t>
            </a:fld>
            <a:endParaRPr lang="en-IN"/>
          </a:p>
        </p:txBody>
      </p:sp>
    </p:spTree>
    <p:extLst>
      <p:ext uri="{BB962C8B-B14F-4D97-AF65-F5344CB8AC3E}">
        <p14:creationId xmlns:p14="http://schemas.microsoft.com/office/powerpoint/2010/main" val="3790704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B0CC30-256E-4FBE-B7D3-35AA00BCEAD2}" type="slidenum">
              <a:rPr lang="en-IN" smtClean="0"/>
              <a:t>11</a:t>
            </a:fld>
            <a:endParaRPr lang="en-IN"/>
          </a:p>
        </p:txBody>
      </p:sp>
    </p:spTree>
    <p:extLst>
      <p:ext uri="{BB962C8B-B14F-4D97-AF65-F5344CB8AC3E}">
        <p14:creationId xmlns:p14="http://schemas.microsoft.com/office/powerpoint/2010/main" val="3304658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7EF96-A038-FA9F-5CD6-A6E90366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EE02B-4381-7A75-1BB0-08E5D4CFC1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45CDE-B18F-494E-A0D3-153B6F1539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AD0471-FD5D-3CA5-DB91-F5824AE5D1D5}"/>
              </a:ext>
            </a:extLst>
          </p:cNvPr>
          <p:cNvSpPr>
            <a:spLocks noGrp="1"/>
          </p:cNvSpPr>
          <p:nvPr>
            <p:ph type="sldNum" sz="quarter" idx="5"/>
          </p:nvPr>
        </p:nvSpPr>
        <p:spPr/>
        <p:txBody>
          <a:bodyPr/>
          <a:lstStyle/>
          <a:p>
            <a:fld id="{12B0CC30-256E-4FBE-B7D3-35AA00BCEAD2}" type="slidenum">
              <a:rPr lang="en-IN" smtClean="0"/>
              <a:t>12</a:t>
            </a:fld>
            <a:endParaRPr lang="en-IN"/>
          </a:p>
        </p:txBody>
      </p:sp>
    </p:spTree>
    <p:extLst>
      <p:ext uri="{BB962C8B-B14F-4D97-AF65-F5344CB8AC3E}">
        <p14:creationId xmlns:p14="http://schemas.microsoft.com/office/powerpoint/2010/main" val="1474797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45849-4486-E65C-5D33-8744C954D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7F502-7220-6E85-3874-D0469C871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157C6E-C8A3-6311-5104-C56CD47C4D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40132D3-5366-A213-8656-B26FF1388D19}"/>
              </a:ext>
            </a:extLst>
          </p:cNvPr>
          <p:cNvSpPr>
            <a:spLocks noGrp="1"/>
          </p:cNvSpPr>
          <p:nvPr>
            <p:ph type="sldNum" sz="quarter" idx="5"/>
          </p:nvPr>
        </p:nvSpPr>
        <p:spPr/>
        <p:txBody>
          <a:bodyPr/>
          <a:lstStyle/>
          <a:p>
            <a:fld id="{12B0CC30-256E-4FBE-B7D3-35AA00BCEAD2}" type="slidenum">
              <a:rPr lang="en-IN" smtClean="0"/>
              <a:t>13</a:t>
            </a:fld>
            <a:endParaRPr lang="en-IN"/>
          </a:p>
        </p:txBody>
      </p:sp>
    </p:spTree>
    <p:extLst>
      <p:ext uri="{BB962C8B-B14F-4D97-AF65-F5344CB8AC3E}">
        <p14:creationId xmlns:p14="http://schemas.microsoft.com/office/powerpoint/2010/main" val="3373906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51F45-4644-9CB0-3798-45AC32FB80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2C79C4-58C9-9521-F793-6DFC2E91BF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BB53D4-645A-6D5F-18E0-1A16E2472B43}"/>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1AC12D85-3C62-963A-4CB8-BF37DCB28F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7F2112-9396-C92E-1AED-BD0F12385C47}"/>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3582099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0D34-46D5-78B1-9D0C-4BB43C3774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94EED3-3D34-528C-4AFE-E066675631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CC1491-5444-EDC9-BCDF-CE7C5BBA9D89}"/>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CD78DCAF-247B-187C-4886-DA3FCA576F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B32A80-A369-AFAE-7785-3F5F61620C27}"/>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51554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59A1-30F8-0F3D-A69A-3EB6537DA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BCCDE1-98D0-E461-CFB2-A7A61A1B46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D61A1D-DD3A-FE22-8057-07146A42F987}"/>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861DF97A-71B1-2008-AC82-C1D81D3541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7D8443-039D-FBDA-3552-1BD4E79EFAE5}"/>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262289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BA4D4-2AB5-EAF2-1BD8-9C8CB6B47A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44B139-53E6-C8E8-2252-16B56E19D6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E91463-9346-9806-6EB5-32234E3630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537373-30C6-39B2-1F3D-E33C32234A73}"/>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6" name="Footer Placeholder 5">
            <a:extLst>
              <a:ext uri="{FF2B5EF4-FFF2-40B4-BE49-F238E27FC236}">
                <a16:creationId xmlns:a16="http://schemas.microsoft.com/office/drawing/2014/main" id="{1003C90F-6680-C436-4C00-83BBD06C1F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31BDC-B1D7-AE21-2517-8216899CD061}"/>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40525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76CCC-DF2C-75DF-9646-556F333E19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73A367-4C07-4CB7-5D50-D7ADC2476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B10D-D4AB-8782-6D39-8CE25D7A9F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64C7BB-7C97-ED92-A070-7D185478D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300405-EB77-6688-A993-9FBC11DCD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CF8E3F-C568-AB76-E3ED-025669E52389}"/>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8" name="Footer Placeholder 7">
            <a:extLst>
              <a:ext uri="{FF2B5EF4-FFF2-40B4-BE49-F238E27FC236}">
                <a16:creationId xmlns:a16="http://schemas.microsoft.com/office/drawing/2014/main" id="{3C5030CA-F2F4-479A-A49B-35FD792258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39CCD2-7A35-66B3-9F8F-16672BF9B1D0}"/>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757487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D6127-A9BA-6B20-87AE-70C534DC8F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B358F6-7BB1-4FC1-7AE4-B34AE6C5B3A9}"/>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4" name="Footer Placeholder 3">
            <a:extLst>
              <a:ext uri="{FF2B5EF4-FFF2-40B4-BE49-F238E27FC236}">
                <a16:creationId xmlns:a16="http://schemas.microsoft.com/office/drawing/2014/main" id="{7D3625B0-E9FF-ACAB-D59C-10AF59A99D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686DA2-6A3A-8BD7-756D-AD8DB85DAF1E}"/>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234603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75FBC-1FB6-14E1-7CED-E4F1AAA7608A}"/>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3" name="Footer Placeholder 2">
            <a:extLst>
              <a:ext uri="{FF2B5EF4-FFF2-40B4-BE49-F238E27FC236}">
                <a16:creationId xmlns:a16="http://schemas.microsoft.com/office/drawing/2014/main" id="{AFB69C62-FED4-E707-C64E-1D3E4170F8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5BEB51-BC5E-8C36-C54D-B716335BFED6}"/>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912659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6087E-E706-534A-D3FA-72E1ACC52C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4E5A9A-B0CE-BDC8-E42A-2B53238A8B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18B303-0565-B9C3-B4CE-021C33F2D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A58036-3DA8-CAB0-BB82-BA390B6E6087}"/>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6" name="Footer Placeholder 5">
            <a:extLst>
              <a:ext uri="{FF2B5EF4-FFF2-40B4-BE49-F238E27FC236}">
                <a16:creationId xmlns:a16="http://schemas.microsoft.com/office/drawing/2014/main" id="{3F03A31D-5C00-F696-B42C-BB5B6F2028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5279A5-4471-D596-DEE4-A63FC501A499}"/>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124547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9DB3E-8802-E7E0-089D-0E07D6E847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095101-8D53-2F6C-418F-E0A354749F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EF004D-77D4-0E22-A4E5-340AC7FDDF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614A7-7AF4-C60A-3F75-FD84899E5E41}"/>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6" name="Footer Placeholder 5">
            <a:extLst>
              <a:ext uri="{FF2B5EF4-FFF2-40B4-BE49-F238E27FC236}">
                <a16:creationId xmlns:a16="http://schemas.microsoft.com/office/drawing/2014/main" id="{D8F46824-9254-17F3-F170-588FA0AD55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373BF9-6B94-7508-7F5C-4F85E6201CC6}"/>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379008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007D-2ADE-710F-220B-AFA43953F4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6A7E77-02C3-A312-D07A-DC2506EF2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4DD4E9-7629-6A40-950D-52A6DB7D95AB}"/>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8DCB95C6-27AB-2597-D1BE-BF8620C15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BD1F1-26BF-FDCE-1E9F-42A9A3083553}"/>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58830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BAC490-A85F-BBB9-2AEA-9CEF5815A9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EA9B0A-1167-A722-ADC3-C30E6DC2F4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3214D8-8E9C-64D1-47EE-1C1F3CD37185}"/>
              </a:ext>
            </a:extLst>
          </p:cNvPr>
          <p:cNvSpPr>
            <a:spLocks noGrp="1"/>
          </p:cNvSpPr>
          <p:nvPr>
            <p:ph type="dt" sz="half" idx="10"/>
          </p:nvPr>
        </p:nvSpPr>
        <p:spPr/>
        <p:txBody>
          <a:body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A59F2B16-ADDB-CC0C-863F-60E0659129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D9FF38-C0E6-0A74-F073-D38F708E7ABB}"/>
              </a:ext>
            </a:extLst>
          </p:cNvPr>
          <p:cNvSpPr>
            <a:spLocks noGrp="1"/>
          </p:cNvSpPr>
          <p:nvPr>
            <p:ph type="sldNum" sz="quarter" idx="12"/>
          </p:nvPr>
        </p:nvSpPr>
        <p:spPr/>
        <p:txBody>
          <a:bodyPr/>
          <a:lstStyle/>
          <a:p>
            <a:fld id="{0028BB27-B294-458F-AEA5-7C9B10C7B0E6}" type="slidenum">
              <a:rPr lang="en-IN" smtClean="0"/>
              <a:t>‹#›</a:t>
            </a:fld>
            <a:endParaRPr lang="en-IN"/>
          </a:p>
        </p:txBody>
      </p:sp>
    </p:spTree>
    <p:extLst>
      <p:ext uri="{BB962C8B-B14F-4D97-AF65-F5344CB8AC3E}">
        <p14:creationId xmlns:p14="http://schemas.microsoft.com/office/powerpoint/2010/main" val="217804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000"/>
            <a:lum/>
          </a:blip>
          <a:srcRect/>
          <a:stretch>
            <a:fillRect t="2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F9AE1-2A6C-BCC9-7C65-45E9D48C3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231DD0-D51C-1C0C-3A6F-F0B3D0109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5185B-6126-65FB-A4E5-62E9AC0D45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AF845-FE67-4374-929D-983CC0674CB6}" type="datetimeFigureOut">
              <a:rPr lang="en-IN" smtClean="0"/>
              <a:t>12-10-2025</a:t>
            </a:fld>
            <a:endParaRPr lang="en-IN"/>
          </a:p>
        </p:txBody>
      </p:sp>
      <p:sp>
        <p:nvSpPr>
          <p:cNvPr id="5" name="Footer Placeholder 4">
            <a:extLst>
              <a:ext uri="{FF2B5EF4-FFF2-40B4-BE49-F238E27FC236}">
                <a16:creationId xmlns:a16="http://schemas.microsoft.com/office/drawing/2014/main" id="{785EE3D4-0994-31A7-A4F1-0BBAA23B07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5569354-7397-2CFC-64EA-F5D98C27EC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8BB27-B294-458F-AEA5-7C9B10C7B0E6}" type="slidenum">
              <a:rPr lang="en-IN" smtClean="0"/>
              <a:t>‹#›</a:t>
            </a:fld>
            <a:endParaRPr lang="en-IN"/>
          </a:p>
        </p:txBody>
      </p:sp>
    </p:spTree>
    <p:extLst>
      <p:ext uri="{BB962C8B-B14F-4D97-AF65-F5344CB8AC3E}">
        <p14:creationId xmlns:p14="http://schemas.microsoft.com/office/powerpoint/2010/main" val="31776529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BE1E-7BE8-6F08-0A1E-00D69205F0F1}"/>
              </a:ext>
            </a:extLst>
          </p:cNvPr>
          <p:cNvSpPr>
            <a:spLocks noGrp="1"/>
          </p:cNvSpPr>
          <p:nvPr>
            <p:ph type="ctrTitle"/>
          </p:nvPr>
        </p:nvSpPr>
        <p:spPr/>
        <p:txBody>
          <a:bodyPr/>
          <a:lstStyle/>
          <a:p>
            <a:r>
              <a:rPr lang="en-IN" dirty="0"/>
              <a:t>Customer Segmentation using RFM Analysis</a:t>
            </a:r>
          </a:p>
        </p:txBody>
      </p:sp>
      <p:sp>
        <p:nvSpPr>
          <p:cNvPr id="3" name="Subtitle 2">
            <a:extLst>
              <a:ext uri="{FF2B5EF4-FFF2-40B4-BE49-F238E27FC236}">
                <a16:creationId xmlns:a16="http://schemas.microsoft.com/office/drawing/2014/main" id="{B09359BE-FF20-BC82-C8A2-283277F2E165}"/>
              </a:ext>
            </a:extLst>
          </p:cNvPr>
          <p:cNvSpPr>
            <a:spLocks noGrp="1"/>
          </p:cNvSpPr>
          <p:nvPr>
            <p:ph type="subTitle" idx="1"/>
          </p:nvPr>
        </p:nvSpPr>
        <p:spPr/>
        <p:txBody>
          <a:bodyPr/>
          <a:lstStyle/>
          <a:p>
            <a:r>
              <a:rPr lang="en-IN" dirty="0"/>
              <a:t>Ecommerce Domain</a:t>
            </a:r>
          </a:p>
        </p:txBody>
      </p:sp>
    </p:spTree>
    <p:extLst>
      <p:ext uri="{BB962C8B-B14F-4D97-AF65-F5344CB8AC3E}">
        <p14:creationId xmlns:p14="http://schemas.microsoft.com/office/powerpoint/2010/main" val="140399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B2B4-F586-34DD-4F7D-B3ADA6F5E44C}"/>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7BA755E0-9991-2567-F8AC-3024D55BCFF9}"/>
              </a:ext>
            </a:extLst>
          </p:cNvPr>
          <p:cNvSpPr>
            <a:spLocks noGrp="1"/>
          </p:cNvSpPr>
          <p:nvPr>
            <p:ph idx="1"/>
          </p:nvPr>
        </p:nvSpPr>
        <p:spPr/>
        <p:txBody>
          <a:bodyPr>
            <a:normAutofit/>
          </a:bodyPr>
          <a:lstStyle/>
          <a:p>
            <a:r>
              <a:rPr lang="en-US" sz="2500" dirty="0"/>
              <a:t>E-commerce platforms collect large volumes of customer and transaction data every day. However, much of this data isn’t fully used to understand customer behavior or guide marketing actions. Without proper segmentation, it becomes difficult to identify loyal customers, inactive buyers, or potential high spenders. This limits the company’s ability to build strong relationships, improve retention, and increase overall revenue.</a:t>
            </a:r>
            <a:endParaRPr lang="en-IN" sz="2500" dirty="0"/>
          </a:p>
        </p:txBody>
      </p:sp>
    </p:spTree>
    <p:extLst>
      <p:ext uri="{BB962C8B-B14F-4D97-AF65-F5344CB8AC3E}">
        <p14:creationId xmlns:p14="http://schemas.microsoft.com/office/powerpoint/2010/main" val="2381930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E16C-3C9C-E807-9AD7-BFEA222F3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6B0EA-A862-0DB5-AEA3-F7BA92279594}"/>
              </a:ext>
            </a:extLst>
          </p:cNvPr>
          <p:cNvSpPr>
            <a:spLocks noGrp="1"/>
          </p:cNvSpPr>
          <p:nvPr>
            <p:ph type="title"/>
          </p:nvPr>
        </p:nvSpPr>
        <p:spPr/>
        <p:txBody>
          <a:bodyPr/>
          <a:lstStyle/>
          <a:p>
            <a:r>
              <a:rPr lang="en-IN" b="1" dirty="0"/>
              <a:t>Problem</a:t>
            </a:r>
            <a:r>
              <a:rPr lang="en-IN" dirty="0"/>
              <a:t> </a:t>
            </a:r>
            <a:r>
              <a:rPr lang="en-IN" b="1" dirty="0"/>
              <a:t>Objective</a:t>
            </a:r>
            <a:r>
              <a:rPr lang="en-IN" dirty="0"/>
              <a:t> </a:t>
            </a:r>
          </a:p>
        </p:txBody>
      </p:sp>
      <p:sp>
        <p:nvSpPr>
          <p:cNvPr id="3" name="Content Placeholder 2">
            <a:extLst>
              <a:ext uri="{FF2B5EF4-FFF2-40B4-BE49-F238E27FC236}">
                <a16:creationId xmlns:a16="http://schemas.microsoft.com/office/drawing/2014/main" id="{E197E77F-6F7B-9ECE-B323-D53AE37F3A09}"/>
              </a:ext>
            </a:extLst>
          </p:cNvPr>
          <p:cNvSpPr>
            <a:spLocks noGrp="1"/>
          </p:cNvSpPr>
          <p:nvPr>
            <p:ph idx="1"/>
          </p:nvPr>
        </p:nvSpPr>
        <p:spPr/>
        <p:txBody>
          <a:bodyPr>
            <a:normAutofit/>
          </a:bodyPr>
          <a:lstStyle/>
          <a:p>
            <a:pPr marL="0" indent="0">
              <a:buNone/>
            </a:pPr>
            <a:r>
              <a:rPr lang="en-US" sz="2500" dirty="0"/>
              <a:t>This analysis aims to:</a:t>
            </a:r>
          </a:p>
          <a:p>
            <a:r>
              <a:rPr lang="en-US" sz="2500" dirty="0"/>
              <a:t>Apply the RFM (Recency, Frequency, Monetary) model to group customers based on their purchase behavior.</a:t>
            </a:r>
          </a:p>
          <a:p>
            <a:r>
              <a:rPr lang="en-US" sz="2500" dirty="0"/>
              <a:t>Use decile analysis to rank customers from most to least valuable.</a:t>
            </a:r>
          </a:p>
          <a:p>
            <a:r>
              <a:rPr lang="en-US" sz="2500" dirty="0"/>
              <a:t>Identify loyal, potential, and dormant customer segments.</a:t>
            </a:r>
          </a:p>
          <a:p>
            <a:r>
              <a:rPr lang="en-US" sz="2500" dirty="0"/>
              <a:t>Suggest data-driven strategies for retention, re-engagement, and upselling.</a:t>
            </a:r>
          </a:p>
        </p:txBody>
      </p:sp>
    </p:spTree>
    <p:extLst>
      <p:ext uri="{BB962C8B-B14F-4D97-AF65-F5344CB8AC3E}">
        <p14:creationId xmlns:p14="http://schemas.microsoft.com/office/powerpoint/2010/main" val="75698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9F9B-FA00-30C6-43E7-0E9F97136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CAEBD-7CE3-D42E-5227-E504A06B6707}"/>
              </a:ext>
            </a:extLst>
          </p:cNvPr>
          <p:cNvSpPr>
            <a:spLocks noGrp="1"/>
          </p:cNvSpPr>
          <p:nvPr>
            <p:ph type="title"/>
          </p:nvPr>
        </p:nvSpPr>
        <p:spPr/>
        <p:txBody>
          <a:bodyPr/>
          <a:lstStyle/>
          <a:p>
            <a:r>
              <a:rPr lang="en-IN" b="1" dirty="0"/>
              <a:t>Dataset Overview</a:t>
            </a:r>
          </a:p>
        </p:txBody>
      </p:sp>
      <p:sp>
        <p:nvSpPr>
          <p:cNvPr id="3" name="Content Placeholder 2">
            <a:extLst>
              <a:ext uri="{FF2B5EF4-FFF2-40B4-BE49-F238E27FC236}">
                <a16:creationId xmlns:a16="http://schemas.microsoft.com/office/drawing/2014/main" id="{666E9601-845E-2B55-CF5B-74A753BB6188}"/>
              </a:ext>
            </a:extLst>
          </p:cNvPr>
          <p:cNvSpPr>
            <a:spLocks noGrp="1"/>
          </p:cNvSpPr>
          <p:nvPr>
            <p:ph idx="1"/>
          </p:nvPr>
        </p:nvSpPr>
        <p:spPr>
          <a:xfrm>
            <a:off x="952500" y="1787525"/>
            <a:ext cx="10515600" cy="4351338"/>
          </a:xfrm>
        </p:spPr>
        <p:txBody>
          <a:bodyPr>
            <a:normAutofit/>
          </a:bodyPr>
          <a:lstStyle/>
          <a:p>
            <a:pPr marL="0" indent="0">
              <a:buNone/>
            </a:pPr>
            <a:r>
              <a:rPr lang="en-US" sz="2500" dirty="0"/>
              <a:t>Size: (541909, 8)</a:t>
            </a:r>
          </a:p>
          <a:p>
            <a:pPr marL="0" lvl="0" indent="0">
              <a:spcBef>
                <a:spcPts val="1200"/>
              </a:spcBef>
              <a:buNone/>
            </a:pPr>
            <a:r>
              <a:rPr lang="en-US" sz="2500" dirty="0"/>
              <a:t>Key Variables:</a:t>
            </a:r>
          </a:p>
          <a:p>
            <a:pPr marL="146050" lvl="0" indent="0">
              <a:spcBef>
                <a:spcPts val="1500"/>
              </a:spcBef>
              <a:buClr>
                <a:schemeClr val="lt2"/>
              </a:buClr>
              <a:buSzPts val="1300"/>
              <a:buNone/>
            </a:pPr>
            <a:r>
              <a:rPr lang="en-US" sz="2500" dirty="0"/>
              <a:t>InvoiceNo: Unique transaction ID</a:t>
            </a:r>
          </a:p>
          <a:p>
            <a:pPr marL="146050" lvl="0" indent="0">
              <a:spcBef>
                <a:spcPts val="0"/>
              </a:spcBef>
              <a:buClr>
                <a:schemeClr val="lt2"/>
              </a:buClr>
              <a:buSzPts val="1300"/>
              <a:buNone/>
            </a:pPr>
            <a:r>
              <a:rPr lang="en-US" sz="2500" dirty="0"/>
              <a:t>StockCode: Unique product identifier</a:t>
            </a:r>
          </a:p>
          <a:p>
            <a:pPr marL="146050" lvl="0" indent="0">
              <a:spcBef>
                <a:spcPts val="0"/>
              </a:spcBef>
              <a:buClr>
                <a:srgbClr val="3C4043"/>
              </a:buClr>
              <a:buSzPts val="1300"/>
              <a:buNone/>
            </a:pPr>
            <a:r>
              <a:rPr lang="en-US" sz="2500" dirty="0"/>
              <a:t>Description: Product description</a:t>
            </a:r>
          </a:p>
          <a:p>
            <a:pPr marL="146050" lvl="0" indent="0">
              <a:spcBef>
                <a:spcPts val="0"/>
              </a:spcBef>
              <a:buClr>
                <a:schemeClr val="lt2"/>
              </a:buClr>
              <a:buSzPts val="1300"/>
              <a:buNone/>
            </a:pPr>
            <a:r>
              <a:rPr lang="en-US" sz="2500" dirty="0"/>
              <a:t>Quantity: Number of items purchased</a:t>
            </a:r>
          </a:p>
          <a:p>
            <a:pPr marL="146050" lvl="0" indent="0">
              <a:spcBef>
                <a:spcPts val="0"/>
              </a:spcBef>
              <a:buClr>
                <a:schemeClr val="lt2"/>
              </a:buClr>
              <a:buSzPts val="1300"/>
              <a:buNone/>
            </a:pPr>
            <a:r>
              <a:rPr lang="en-US" sz="2500" dirty="0"/>
              <a:t>InvoiceDate: Timestamp of purchase</a:t>
            </a:r>
          </a:p>
          <a:p>
            <a:pPr marL="146050" lvl="0" indent="0">
              <a:spcBef>
                <a:spcPts val="0"/>
              </a:spcBef>
              <a:buClr>
                <a:schemeClr val="lt2"/>
              </a:buClr>
              <a:buSzPts val="1300"/>
              <a:buNone/>
            </a:pPr>
            <a:r>
              <a:rPr lang="en-US" sz="2500" dirty="0"/>
              <a:t>UnitPrice: Price per unit in GBP</a:t>
            </a:r>
          </a:p>
          <a:p>
            <a:pPr marL="146050" lvl="0" indent="0">
              <a:spcBef>
                <a:spcPts val="0"/>
              </a:spcBef>
              <a:buClr>
                <a:schemeClr val="lt2"/>
              </a:buClr>
              <a:buSzPts val="1300"/>
              <a:buNone/>
            </a:pPr>
            <a:r>
              <a:rPr lang="en-US" sz="2500" dirty="0"/>
              <a:t>CustomerID: Unique customer identifier</a:t>
            </a:r>
          </a:p>
          <a:p>
            <a:pPr marL="146050" lvl="0" indent="0">
              <a:spcBef>
                <a:spcPts val="0"/>
              </a:spcBef>
              <a:buClr>
                <a:schemeClr val="lt2"/>
              </a:buClr>
              <a:buSzPts val="1300"/>
              <a:buNone/>
            </a:pPr>
            <a:r>
              <a:rPr lang="en-US" sz="2500" dirty="0"/>
              <a:t>Country: Location of the customer</a:t>
            </a:r>
          </a:p>
          <a:p>
            <a:pPr marL="0" indent="0">
              <a:buNone/>
            </a:pPr>
            <a:endParaRPr lang="en-US" sz="2500" dirty="0"/>
          </a:p>
        </p:txBody>
      </p:sp>
    </p:spTree>
    <p:extLst>
      <p:ext uri="{BB962C8B-B14F-4D97-AF65-F5344CB8AC3E}">
        <p14:creationId xmlns:p14="http://schemas.microsoft.com/office/powerpoint/2010/main" val="416887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B3A43-75C7-EC10-605F-C06141F8B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C945A-16E0-B5C5-F1A7-3FFB81A37900}"/>
              </a:ext>
            </a:extLst>
          </p:cNvPr>
          <p:cNvSpPr>
            <a:spLocks noGrp="1"/>
          </p:cNvSpPr>
          <p:nvPr>
            <p:ph type="title"/>
          </p:nvPr>
        </p:nvSpPr>
        <p:spPr/>
        <p:txBody>
          <a:bodyPr/>
          <a:lstStyle/>
          <a:p>
            <a:r>
              <a:rPr lang="en-IN" b="1" dirty="0"/>
              <a:t>Data Cleaning &amp; Preparation </a:t>
            </a:r>
          </a:p>
        </p:txBody>
      </p:sp>
      <p:sp>
        <p:nvSpPr>
          <p:cNvPr id="4" name="Rectangle 1">
            <a:extLst>
              <a:ext uri="{FF2B5EF4-FFF2-40B4-BE49-F238E27FC236}">
                <a16:creationId xmlns:a16="http://schemas.microsoft.com/office/drawing/2014/main" id="{9FA71784-7C5B-61F4-D562-12C6BF614064}"/>
              </a:ext>
            </a:extLst>
          </p:cNvPr>
          <p:cNvSpPr>
            <a:spLocks noGrp="1" noChangeArrowheads="1"/>
          </p:cNvSpPr>
          <p:nvPr>
            <p:ph idx="1"/>
          </p:nvPr>
        </p:nvSpPr>
        <p:spPr bwMode="auto">
          <a:xfrm>
            <a:off x="838200" y="1470838"/>
            <a:ext cx="5695855" cy="2821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250000"/>
              </a:lnSpc>
              <a:spcBef>
                <a:spcPct val="0"/>
              </a:spcBef>
              <a:spcAft>
                <a:spcPct val="0"/>
              </a:spcAft>
              <a:buClrTx/>
              <a:buSzTx/>
              <a:buFont typeface="Wingdings" panose="05000000000000000000" pitchFamily="2" charset="2"/>
              <a:buChar char="Ø"/>
              <a:tabLst/>
            </a:pPr>
            <a:r>
              <a:rPr kumimoji="0" lang="en-US" altLang="en-US" sz="2500" i="0" u="none" strike="noStrike" cap="none" normalizeH="0" baseline="0" dirty="0">
                <a:ln>
                  <a:noFill/>
                </a:ln>
                <a:solidFill>
                  <a:schemeClr val="tx1"/>
                </a:solidFill>
                <a:effectLst/>
              </a:rPr>
              <a:t>Removed duplicate records.</a:t>
            </a:r>
          </a:p>
          <a:p>
            <a:pPr marR="0" lvl="0" algn="l" defTabSz="914400" rtl="0" eaLnBrk="0" fontAlgn="base" latinLnBrk="0" hangingPunct="0">
              <a:lnSpc>
                <a:spcPct val="250000"/>
              </a:lnSpc>
              <a:spcBef>
                <a:spcPct val="0"/>
              </a:spcBef>
              <a:spcAft>
                <a:spcPct val="0"/>
              </a:spcAft>
              <a:buClrTx/>
              <a:buSzTx/>
              <a:buFont typeface="Wingdings" panose="05000000000000000000" pitchFamily="2" charset="2"/>
              <a:buChar char="Ø"/>
              <a:tabLst/>
            </a:pPr>
            <a:r>
              <a:rPr kumimoji="0" lang="en-US" altLang="en-US" sz="2500" i="0" u="none" strike="noStrike" cap="none" normalizeH="0" baseline="0" dirty="0">
                <a:ln>
                  <a:noFill/>
                </a:ln>
                <a:solidFill>
                  <a:schemeClr val="tx1"/>
                </a:solidFill>
                <a:effectLst/>
              </a:rPr>
              <a:t>Dropped rows with missing (null) values.</a:t>
            </a:r>
          </a:p>
          <a:p>
            <a:pPr marR="0" lvl="0" algn="l" defTabSz="914400" rtl="0" eaLnBrk="0" fontAlgn="base" latinLnBrk="0" hangingPunct="0">
              <a:lnSpc>
                <a:spcPct val="250000"/>
              </a:lnSpc>
              <a:spcBef>
                <a:spcPct val="0"/>
              </a:spcBef>
              <a:spcAft>
                <a:spcPct val="0"/>
              </a:spcAft>
              <a:buClrTx/>
              <a:buSzTx/>
              <a:buFont typeface="Wingdings" panose="05000000000000000000" pitchFamily="2" charset="2"/>
              <a:buChar char="Ø"/>
              <a:tabLst/>
            </a:pPr>
            <a:r>
              <a:rPr kumimoji="0" lang="en-US" altLang="en-US" sz="2500" i="0" u="none" strike="noStrike" cap="none" normalizeH="0" baseline="0" dirty="0">
                <a:ln>
                  <a:noFill/>
                </a:ln>
                <a:solidFill>
                  <a:schemeClr val="tx1"/>
                </a:solidFill>
                <a:effectLst/>
              </a:rPr>
              <a:t>Eliminated negative or zero values.</a:t>
            </a:r>
          </a:p>
        </p:txBody>
      </p:sp>
    </p:spTree>
    <p:extLst>
      <p:ext uri="{BB962C8B-B14F-4D97-AF65-F5344CB8AC3E}">
        <p14:creationId xmlns:p14="http://schemas.microsoft.com/office/powerpoint/2010/main" val="2405377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3E419-AD0A-F9CC-3982-C2C8A3C0A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835FD-3EA0-6F7E-A173-4AE2460960D2}"/>
              </a:ext>
            </a:extLst>
          </p:cNvPr>
          <p:cNvSpPr>
            <a:spLocks noGrp="1"/>
          </p:cNvSpPr>
          <p:nvPr>
            <p:ph type="title"/>
          </p:nvPr>
        </p:nvSpPr>
        <p:spPr>
          <a:xfrm>
            <a:off x="839788" y="365125"/>
            <a:ext cx="10515600" cy="549275"/>
          </a:xfrm>
        </p:spPr>
        <p:txBody>
          <a:bodyPr>
            <a:normAutofit/>
          </a:bodyPr>
          <a:lstStyle/>
          <a:p>
            <a:r>
              <a:rPr lang="en-IN" sz="3200" b="1" dirty="0"/>
              <a:t>Removed Duplicate Records</a:t>
            </a:r>
          </a:p>
        </p:txBody>
      </p:sp>
      <p:sp>
        <p:nvSpPr>
          <p:cNvPr id="3" name="Text Placeholder 2">
            <a:extLst>
              <a:ext uri="{FF2B5EF4-FFF2-40B4-BE49-F238E27FC236}">
                <a16:creationId xmlns:a16="http://schemas.microsoft.com/office/drawing/2014/main" id="{D6E4DF8D-98D3-BB7C-5F89-C59DBF77AFEF}"/>
              </a:ext>
            </a:extLst>
          </p:cNvPr>
          <p:cNvSpPr>
            <a:spLocks noGrp="1"/>
          </p:cNvSpPr>
          <p:nvPr>
            <p:ph type="body" idx="1"/>
          </p:nvPr>
        </p:nvSpPr>
        <p:spPr>
          <a:xfrm>
            <a:off x="839788" y="914401"/>
            <a:ext cx="10515600" cy="2209799"/>
          </a:xfrm>
        </p:spPr>
        <p:txBody>
          <a:bodyPr>
            <a:noAutofit/>
          </a:bodyPr>
          <a:lstStyle/>
          <a:p>
            <a:pPr>
              <a:lnSpc>
                <a:spcPct val="100000"/>
              </a:lnSpc>
            </a:pPr>
            <a:r>
              <a:rPr lang="en-US" sz="2500" b="0" dirty="0"/>
              <a:t>Duplicate records were checked using </a:t>
            </a:r>
            <a:r>
              <a:rPr lang="en-US" sz="2500" dirty="0"/>
              <a:t>duplicated().sum() </a:t>
            </a:r>
            <a:r>
              <a:rPr lang="en-US" sz="2500" b="0" dirty="0"/>
              <a:t>and removed with </a:t>
            </a:r>
            <a:r>
              <a:rPr lang="en-US" sz="2500" dirty="0"/>
              <a:t>drop_duplicates().</a:t>
            </a:r>
            <a:br>
              <a:rPr lang="en-US" sz="2500" b="0" dirty="0"/>
            </a:br>
            <a:r>
              <a:rPr lang="en-US" sz="2500" b="0" dirty="0"/>
              <a:t>This ensured that each customer transaction appeared only once for accurate analysis.</a:t>
            </a:r>
            <a:endParaRPr lang="en-IN" sz="2500" b="0" dirty="0"/>
          </a:p>
        </p:txBody>
      </p:sp>
      <p:pic>
        <p:nvPicPr>
          <p:cNvPr id="9" name="Content Placeholder 8">
            <a:extLst>
              <a:ext uri="{FF2B5EF4-FFF2-40B4-BE49-F238E27FC236}">
                <a16:creationId xmlns:a16="http://schemas.microsoft.com/office/drawing/2014/main" id="{31415C84-D955-E0AB-99FE-4A377BB881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346200" y="3733800"/>
            <a:ext cx="3582404" cy="1549399"/>
          </a:xfrm>
        </p:spPr>
      </p:pic>
      <p:sp>
        <p:nvSpPr>
          <p:cNvPr id="5" name="Text Placeholder 4">
            <a:extLst>
              <a:ext uri="{FF2B5EF4-FFF2-40B4-BE49-F238E27FC236}">
                <a16:creationId xmlns:a16="http://schemas.microsoft.com/office/drawing/2014/main" id="{BD451C44-F0B7-AA52-6B1A-8604344DDCCF}"/>
              </a:ext>
            </a:extLst>
          </p:cNvPr>
          <p:cNvSpPr>
            <a:spLocks noGrp="1"/>
          </p:cNvSpPr>
          <p:nvPr>
            <p:ph type="body" sz="quarter" idx="3"/>
          </p:nvPr>
        </p:nvSpPr>
        <p:spPr>
          <a:xfrm flipH="1" flipV="1">
            <a:off x="14122400" y="-558799"/>
            <a:ext cx="1333500" cy="558799"/>
          </a:xfrm>
        </p:spPr>
        <p:txBody>
          <a:bodyPr>
            <a:normAutofit/>
          </a:bodyPr>
          <a:lstStyle/>
          <a:p>
            <a:endParaRPr lang="en-IN" dirty="0"/>
          </a:p>
        </p:txBody>
      </p:sp>
      <p:pic>
        <p:nvPicPr>
          <p:cNvPr id="10" name="Content Placeholder 9">
            <a:extLst>
              <a:ext uri="{FF2B5EF4-FFF2-40B4-BE49-F238E27FC236}">
                <a16:creationId xmlns:a16="http://schemas.microsoft.com/office/drawing/2014/main" id="{0AEB4043-373C-7AEB-9ADE-4919BDF4666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p:blipFill>
        <p:spPr>
          <a:xfrm>
            <a:off x="6489700" y="3485236"/>
            <a:ext cx="4160307" cy="2013864"/>
          </a:xfrm>
        </p:spPr>
      </p:pic>
    </p:spTree>
    <p:extLst>
      <p:ext uri="{BB962C8B-B14F-4D97-AF65-F5344CB8AC3E}">
        <p14:creationId xmlns:p14="http://schemas.microsoft.com/office/powerpoint/2010/main" val="215403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45255-8746-66C6-B1A4-76276D1CF80E}"/>
              </a:ext>
            </a:extLst>
          </p:cNvPr>
          <p:cNvSpPr>
            <a:spLocks noGrp="1"/>
          </p:cNvSpPr>
          <p:nvPr>
            <p:ph type="title"/>
          </p:nvPr>
        </p:nvSpPr>
        <p:spPr>
          <a:xfrm>
            <a:off x="839788" y="365125"/>
            <a:ext cx="10515600" cy="549275"/>
          </a:xfrm>
        </p:spPr>
        <p:txBody>
          <a:bodyPr>
            <a:normAutofit/>
          </a:bodyPr>
          <a:lstStyle/>
          <a:p>
            <a:r>
              <a:rPr lang="en-IN" sz="3200" b="1" dirty="0"/>
              <a:t>Dropped Rows with missing(null) values</a:t>
            </a:r>
          </a:p>
        </p:txBody>
      </p:sp>
      <p:sp>
        <p:nvSpPr>
          <p:cNvPr id="3" name="Text Placeholder 2">
            <a:extLst>
              <a:ext uri="{FF2B5EF4-FFF2-40B4-BE49-F238E27FC236}">
                <a16:creationId xmlns:a16="http://schemas.microsoft.com/office/drawing/2014/main" id="{8CE97E3B-12E3-363D-3693-B5BF6D1BB865}"/>
              </a:ext>
            </a:extLst>
          </p:cNvPr>
          <p:cNvSpPr>
            <a:spLocks noGrp="1"/>
          </p:cNvSpPr>
          <p:nvPr>
            <p:ph type="body" idx="1"/>
          </p:nvPr>
        </p:nvSpPr>
        <p:spPr>
          <a:xfrm>
            <a:off x="839788" y="914401"/>
            <a:ext cx="10515600" cy="1181099"/>
          </a:xfrm>
        </p:spPr>
        <p:txBody>
          <a:bodyPr>
            <a:normAutofit/>
          </a:bodyPr>
          <a:lstStyle/>
          <a:p>
            <a:pPr>
              <a:lnSpc>
                <a:spcPct val="100000"/>
              </a:lnSpc>
            </a:pPr>
            <a:r>
              <a:rPr lang="en-US" sz="2000" b="0" dirty="0"/>
              <a:t>About 24.9% of values were missing in the </a:t>
            </a:r>
            <a:r>
              <a:rPr lang="en-US" sz="2000" b="0" i="1" dirty="0"/>
              <a:t>CustomerID</a:t>
            </a:r>
            <a:r>
              <a:rPr lang="en-US" sz="2000" b="0" dirty="0"/>
              <a:t> column.</a:t>
            </a:r>
            <a:br>
              <a:rPr lang="en-US" sz="2000" b="0" dirty="0"/>
            </a:br>
            <a:r>
              <a:rPr lang="en-US" sz="2000" b="0" dirty="0"/>
              <a:t>Since the analysis focuses on customer behavior, these records were removed </a:t>
            </a:r>
            <a:br>
              <a:rPr lang="en-US" sz="2000" b="0" dirty="0"/>
            </a:br>
            <a:r>
              <a:rPr lang="en-US" sz="2000" b="0" dirty="0"/>
              <a:t>using </a:t>
            </a:r>
            <a:r>
              <a:rPr lang="en-US" sz="2000" dirty="0"/>
              <a:t>isnull().sum()</a:t>
            </a:r>
            <a:r>
              <a:rPr lang="en-US" sz="2000" b="0" dirty="0"/>
              <a:t> to check and </a:t>
            </a:r>
            <a:r>
              <a:rPr lang="en-US" sz="2000" dirty="0"/>
              <a:t>dropna() </a:t>
            </a:r>
            <a:r>
              <a:rPr lang="en-US" sz="2000" b="0" dirty="0"/>
              <a:t>to delete missing values.</a:t>
            </a:r>
            <a:endParaRPr lang="en-IN" sz="2000" b="0" dirty="0"/>
          </a:p>
        </p:txBody>
      </p:sp>
      <p:pic>
        <p:nvPicPr>
          <p:cNvPr id="8" name="Content Placeholder 7">
            <a:extLst>
              <a:ext uri="{FF2B5EF4-FFF2-40B4-BE49-F238E27FC236}">
                <a16:creationId xmlns:a16="http://schemas.microsoft.com/office/drawing/2014/main" id="{D10C63C2-8267-A6A0-F8A2-9700A9FA781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9788" y="2552400"/>
            <a:ext cx="4551841" cy="3645199"/>
          </a:xfrm>
        </p:spPr>
      </p:pic>
      <p:pic>
        <p:nvPicPr>
          <p:cNvPr id="10" name="Content Placeholder 9">
            <a:extLst>
              <a:ext uri="{FF2B5EF4-FFF2-40B4-BE49-F238E27FC236}">
                <a16:creationId xmlns:a16="http://schemas.microsoft.com/office/drawing/2014/main" id="{F01926D1-CFDA-7FA2-07A5-585245539E3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91274" y="2552400"/>
            <a:ext cx="4551841" cy="3645199"/>
          </a:xfrm>
        </p:spPr>
      </p:pic>
    </p:spTree>
    <p:extLst>
      <p:ext uri="{BB962C8B-B14F-4D97-AF65-F5344CB8AC3E}">
        <p14:creationId xmlns:p14="http://schemas.microsoft.com/office/powerpoint/2010/main" val="3197071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D4B5-465C-E00A-A861-03B33255C21B}"/>
              </a:ext>
            </a:extLst>
          </p:cNvPr>
          <p:cNvSpPr>
            <a:spLocks noGrp="1"/>
          </p:cNvSpPr>
          <p:nvPr>
            <p:ph type="title"/>
          </p:nvPr>
        </p:nvSpPr>
        <p:spPr>
          <a:xfrm>
            <a:off x="839788" y="457200"/>
            <a:ext cx="3932237" cy="1054100"/>
          </a:xfrm>
        </p:spPr>
        <p:txBody>
          <a:bodyPr>
            <a:normAutofit/>
          </a:bodyPr>
          <a:lstStyle/>
          <a:p>
            <a:r>
              <a:rPr lang="en-IN" b="1" dirty="0"/>
              <a:t>Eliminated negative or zero values</a:t>
            </a:r>
            <a:endParaRPr lang="en-IN" dirty="0"/>
          </a:p>
        </p:txBody>
      </p:sp>
      <p:pic>
        <p:nvPicPr>
          <p:cNvPr id="11" name="Picture Placeholder 10">
            <a:extLst>
              <a:ext uri="{FF2B5EF4-FFF2-40B4-BE49-F238E27FC236}">
                <a16:creationId xmlns:a16="http://schemas.microsoft.com/office/drawing/2014/main" id="{116DB270-45BE-319D-4108-1A1BD3CCCD7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0970" b="10970"/>
          <a:stretch>
            <a:fillRect/>
          </a:stretch>
        </p:blipFill>
        <p:spPr/>
      </p:pic>
      <p:sp>
        <p:nvSpPr>
          <p:cNvPr id="4" name="Text Placeholder 3">
            <a:extLst>
              <a:ext uri="{FF2B5EF4-FFF2-40B4-BE49-F238E27FC236}">
                <a16:creationId xmlns:a16="http://schemas.microsoft.com/office/drawing/2014/main" id="{69BE6B4A-C440-DC62-3991-57721A0BDD49}"/>
              </a:ext>
            </a:extLst>
          </p:cNvPr>
          <p:cNvSpPr>
            <a:spLocks noGrp="1"/>
          </p:cNvSpPr>
          <p:nvPr>
            <p:ph type="body" sz="half" idx="2"/>
          </p:nvPr>
        </p:nvSpPr>
        <p:spPr/>
        <p:txBody>
          <a:bodyPr>
            <a:normAutofit/>
          </a:bodyPr>
          <a:lstStyle/>
          <a:p>
            <a:r>
              <a:rPr lang="en-US" sz="2100" dirty="0"/>
              <a:t>To ensure data accuracy, rows with negative or zero values in Quantity or UnitPrice were identified using conditional filters and summary statistics-  new.describe().</a:t>
            </a:r>
          </a:p>
          <a:p>
            <a:br>
              <a:rPr lang="en-US" sz="2100" dirty="0"/>
            </a:br>
            <a:r>
              <a:rPr lang="en-US" sz="2100" dirty="0"/>
              <a:t>All such invalid records were then removed using:</a:t>
            </a:r>
            <a:br>
              <a:rPr lang="en-US" sz="2100" dirty="0"/>
            </a:br>
            <a:r>
              <a:rPr lang="en-US" sz="2100" dirty="0"/>
              <a:t>new = new[new['Quantity'] &gt; 0] and new = new['UnitPrice'] &gt; 0].</a:t>
            </a:r>
            <a:endParaRPr lang="en-IN" sz="2100" dirty="0"/>
          </a:p>
          <a:p>
            <a:endParaRPr lang="en-IN" sz="2100" dirty="0"/>
          </a:p>
        </p:txBody>
      </p:sp>
    </p:spTree>
    <p:extLst>
      <p:ext uri="{BB962C8B-B14F-4D97-AF65-F5344CB8AC3E}">
        <p14:creationId xmlns:p14="http://schemas.microsoft.com/office/powerpoint/2010/main" val="423956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ECBD5-F181-86F2-0E3B-B1D70238BF7F}"/>
              </a:ext>
            </a:extLst>
          </p:cNvPr>
          <p:cNvSpPr>
            <a:spLocks noGrp="1"/>
          </p:cNvSpPr>
          <p:nvPr>
            <p:ph type="title"/>
          </p:nvPr>
        </p:nvSpPr>
        <p:spPr>
          <a:xfrm>
            <a:off x="939800" y="621971"/>
            <a:ext cx="10515600" cy="511175"/>
          </a:xfrm>
        </p:spPr>
        <p:txBody>
          <a:bodyPr>
            <a:normAutofit fontScale="90000"/>
          </a:bodyPr>
          <a:lstStyle/>
          <a:p>
            <a:pPr algn="ctr"/>
            <a:r>
              <a:rPr lang="en-IN" b="1" dirty="0"/>
              <a:t>Average Sale by each Country</a:t>
            </a:r>
          </a:p>
        </p:txBody>
      </p:sp>
      <p:pic>
        <p:nvPicPr>
          <p:cNvPr id="4" name="Picture 3">
            <a:extLst>
              <a:ext uri="{FF2B5EF4-FFF2-40B4-BE49-F238E27FC236}">
                <a16:creationId xmlns:a16="http://schemas.microsoft.com/office/drawing/2014/main" id="{DB272021-7E71-F690-EC55-EB5DEF6D4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566" y="1510970"/>
            <a:ext cx="9974067" cy="4725059"/>
          </a:xfrm>
          <a:prstGeom prst="rect">
            <a:avLst/>
          </a:prstGeom>
          <a:ln>
            <a:solidFill>
              <a:schemeClr val="bg2">
                <a:lumMod val="10000"/>
              </a:schemeClr>
            </a:solidFill>
          </a:ln>
        </p:spPr>
      </p:pic>
    </p:spTree>
    <p:extLst>
      <p:ext uri="{BB962C8B-B14F-4D97-AF65-F5344CB8AC3E}">
        <p14:creationId xmlns:p14="http://schemas.microsoft.com/office/powerpoint/2010/main" val="3686494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10D9-1CD0-B2DC-1474-CC64EFF4D2E0}"/>
              </a:ext>
            </a:extLst>
          </p:cNvPr>
          <p:cNvSpPr>
            <a:spLocks noGrp="1"/>
          </p:cNvSpPr>
          <p:nvPr>
            <p:ph type="title"/>
          </p:nvPr>
        </p:nvSpPr>
        <p:spPr>
          <a:xfrm>
            <a:off x="836612" y="368300"/>
            <a:ext cx="4468812" cy="1181100"/>
          </a:xfrm>
        </p:spPr>
        <p:txBody>
          <a:bodyPr>
            <a:normAutofit/>
          </a:bodyPr>
          <a:lstStyle/>
          <a:p>
            <a:r>
              <a:rPr lang="en-IN" b="1" dirty="0"/>
              <a:t>RFM Analysis &amp; Customer Segmentation </a:t>
            </a:r>
          </a:p>
        </p:txBody>
      </p:sp>
      <p:pic>
        <p:nvPicPr>
          <p:cNvPr id="6" name="Picture Placeholder 5">
            <a:extLst>
              <a:ext uri="{FF2B5EF4-FFF2-40B4-BE49-F238E27FC236}">
                <a16:creationId xmlns:a16="http://schemas.microsoft.com/office/drawing/2014/main" id="{FBA9B3E1-8358-28C8-EB30-34F2C91E0FFE}"/>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1209" r="788"/>
          <a:stretch>
            <a:fillRect/>
          </a:stretch>
        </p:blipFill>
        <p:spPr>
          <a:xfrm>
            <a:off x="5305424" y="992187"/>
            <a:ext cx="6477000" cy="4873625"/>
          </a:xfrm>
        </p:spPr>
      </p:pic>
      <p:sp>
        <p:nvSpPr>
          <p:cNvPr id="4" name="Text Placeholder 3">
            <a:extLst>
              <a:ext uri="{FF2B5EF4-FFF2-40B4-BE49-F238E27FC236}">
                <a16:creationId xmlns:a16="http://schemas.microsoft.com/office/drawing/2014/main" id="{F77C6B37-D12D-12AB-950C-FF1EA31AA9A9}"/>
              </a:ext>
            </a:extLst>
          </p:cNvPr>
          <p:cNvSpPr>
            <a:spLocks noGrp="1"/>
          </p:cNvSpPr>
          <p:nvPr>
            <p:ph type="body" sz="half" idx="2"/>
          </p:nvPr>
        </p:nvSpPr>
        <p:spPr>
          <a:xfrm>
            <a:off x="839788" y="1752600"/>
            <a:ext cx="4468812" cy="4368800"/>
          </a:xfrm>
        </p:spPr>
        <p:txBody>
          <a:bodyPr>
            <a:noAutofit/>
          </a:bodyPr>
          <a:lstStyle/>
          <a:p>
            <a:r>
              <a:rPr lang="en-US" sz="2000" dirty="0"/>
              <a:t>RFM stands for Recency, Frequency, and Monetary — used to evaluate customer value.</a:t>
            </a:r>
          </a:p>
          <a:p>
            <a:r>
              <a:rPr lang="en-US" sz="2000" dirty="0"/>
              <a:t>Recency: How recently a customer purchased</a:t>
            </a:r>
            <a:br>
              <a:rPr lang="en-US" sz="2000" dirty="0"/>
            </a:br>
            <a:r>
              <a:rPr lang="en-US" sz="2000" dirty="0"/>
              <a:t>Frequency: How often they purchase</a:t>
            </a:r>
            <a:br>
              <a:rPr lang="en-US" sz="2000" dirty="0"/>
            </a:br>
            <a:r>
              <a:rPr lang="en-US" sz="2000" dirty="0"/>
              <a:t>Monetary: How much they spend</a:t>
            </a:r>
          </a:p>
          <a:p>
            <a:r>
              <a:rPr lang="en-US" sz="2000" dirty="0"/>
              <a:t>Customers are divided into five groups for each metric — typically from 1 to 5. Each customer’s R, F, and M scores are then combined to form a single RFM Score, which helps identify: Top customers, Loyal customer, At- risk customer, etc.</a:t>
            </a:r>
          </a:p>
          <a:p>
            <a:endParaRPr lang="en-IN" sz="2000" dirty="0"/>
          </a:p>
        </p:txBody>
      </p:sp>
    </p:spTree>
    <p:extLst>
      <p:ext uri="{BB962C8B-B14F-4D97-AF65-F5344CB8AC3E}">
        <p14:creationId xmlns:p14="http://schemas.microsoft.com/office/powerpoint/2010/main" val="3299144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8345-DDA2-CC2B-8C32-DD1E84F68EA0}"/>
              </a:ext>
            </a:extLst>
          </p:cNvPr>
          <p:cNvSpPr>
            <a:spLocks noGrp="1"/>
          </p:cNvSpPr>
          <p:nvPr>
            <p:ph type="title"/>
          </p:nvPr>
        </p:nvSpPr>
        <p:spPr/>
        <p:txBody>
          <a:bodyPr>
            <a:normAutofit/>
          </a:bodyPr>
          <a:lstStyle/>
          <a:p>
            <a:pPr algn="ctr"/>
            <a:r>
              <a:rPr lang="en-IN" b="1" dirty="0"/>
              <a:t>Number of Customers by Recency Score &amp; </a:t>
            </a:r>
            <a:br>
              <a:rPr lang="en-IN" b="1" dirty="0"/>
            </a:br>
            <a:r>
              <a:rPr lang="en-IN" b="1" dirty="0"/>
              <a:t>Monetary Score</a:t>
            </a:r>
          </a:p>
        </p:txBody>
      </p:sp>
      <p:pic>
        <p:nvPicPr>
          <p:cNvPr id="12" name="Picture 11">
            <a:extLst>
              <a:ext uri="{FF2B5EF4-FFF2-40B4-BE49-F238E27FC236}">
                <a16:creationId xmlns:a16="http://schemas.microsoft.com/office/drawing/2014/main" id="{6D18A695-C698-65DA-3325-134950155B5F}"/>
              </a:ext>
            </a:extLst>
          </p:cNvPr>
          <p:cNvPicPr>
            <a:picLocks noChangeAspect="1"/>
          </p:cNvPicPr>
          <p:nvPr/>
        </p:nvPicPr>
        <p:blipFill>
          <a:blip r:embed="rId3">
            <a:extLst>
              <a:ext uri="{28A0092B-C50C-407E-A947-70E740481C1C}">
                <a14:useLocalDpi xmlns:a14="http://schemas.microsoft.com/office/drawing/2010/main" val="0"/>
              </a:ext>
            </a:extLst>
          </a:blip>
          <a:srcRect l="7792" r="6248" b="53396"/>
          <a:stretch>
            <a:fillRect/>
          </a:stretch>
        </p:blipFill>
        <p:spPr>
          <a:xfrm>
            <a:off x="533400" y="2142497"/>
            <a:ext cx="5473700" cy="4350377"/>
          </a:xfrm>
          <a:prstGeom prst="rect">
            <a:avLst/>
          </a:prstGeom>
          <a:ln>
            <a:solidFill>
              <a:schemeClr val="bg2">
                <a:lumMod val="10000"/>
              </a:schemeClr>
            </a:solidFill>
          </a:ln>
        </p:spPr>
      </p:pic>
      <p:pic>
        <p:nvPicPr>
          <p:cNvPr id="13" name="Picture 12">
            <a:extLst>
              <a:ext uri="{FF2B5EF4-FFF2-40B4-BE49-F238E27FC236}">
                <a16:creationId xmlns:a16="http://schemas.microsoft.com/office/drawing/2014/main" id="{8C1E4B31-B0FB-710E-C5D5-3F6962916D1A}"/>
              </a:ext>
            </a:extLst>
          </p:cNvPr>
          <p:cNvPicPr>
            <a:picLocks noChangeAspect="1"/>
          </p:cNvPicPr>
          <p:nvPr/>
        </p:nvPicPr>
        <p:blipFill>
          <a:blip r:embed="rId3">
            <a:extLst>
              <a:ext uri="{28A0092B-C50C-407E-A947-70E740481C1C}">
                <a14:useLocalDpi xmlns:a14="http://schemas.microsoft.com/office/drawing/2010/main" val="0"/>
              </a:ext>
            </a:extLst>
          </a:blip>
          <a:srcRect l="7606" t="50584" r="4118" b="2812"/>
          <a:stretch>
            <a:fillRect/>
          </a:stretch>
        </p:blipFill>
        <p:spPr>
          <a:xfrm>
            <a:off x="6299200" y="2142497"/>
            <a:ext cx="5473700" cy="4350377"/>
          </a:xfrm>
          <a:prstGeom prst="rect">
            <a:avLst/>
          </a:prstGeom>
          <a:ln>
            <a:solidFill>
              <a:schemeClr val="bg2">
                <a:lumMod val="10000"/>
              </a:schemeClr>
            </a:solidFill>
          </a:ln>
        </p:spPr>
      </p:pic>
    </p:spTree>
    <p:extLst>
      <p:ext uri="{BB962C8B-B14F-4D97-AF65-F5344CB8AC3E}">
        <p14:creationId xmlns:p14="http://schemas.microsoft.com/office/powerpoint/2010/main" val="196738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C80D-FB40-3B33-54CC-4857B691A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FFBE7-FE9F-6DA1-ECB4-4548A7514D54}"/>
              </a:ext>
            </a:extLst>
          </p:cNvPr>
          <p:cNvSpPr>
            <a:spLocks noGrp="1"/>
          </p:cNvSpPr>
          <p:nvPr>
            <p:ph type="title"/>
          </p:nvPr>
        </p:nvSpPr>
        <p:spPr>
          <a:xfrm>
            <a:off x="838200" y="365125"/>
            <a:ext cx="10515600" cy="663575"/>
          </a:xfrm>
        </p:spPr>
        <p:txBody>
          <a:bodyPr>
            <a:normAutofit fontScale="90000"/>
          </a:bodyPr>
          <a:lstStyle/>
          <a:p>
            <a:pPr algn="ctr"/>
            <a:r>
              <a:rPr lang="en-IN" b="1" dirty="0"/>
              <a:t>Number of Customers by RFM Score</a:t>
            </a:r>
          </a:p>
        </p:txBody>
      </p:sp>
      <p:pic>
        <p:nvPicPr>
          <p:cNvPr id="4" name="Picture 3">
            <a:extLst>
              <a:ext uri="{FF2B5EF4-FFF2-40B4-BE49-F238E27FC236}">
                <a16:creationId xmlns:a16="http://schemas.microsoft.com/office/drawing/2014/main" id="{872F04C3-0BFA-9D7C-DF77-5731C4091D8E}"/>
              </a:ext>
            </a:extLst>
          </p:cNvPr>
          <p:cNvPicPr>
            <a:picLocks noChangeAspect="1"/>
          </p:cNvPicPr>
          <p:nvPr/>
        </p:nvPicPr>
        <p:blipFill>
          <a:blip r:embed="rId3">
            <a:extLst>
              <a:ext uri="{28A0092B-C50C-407E-A947-70E740481C1C}">
                <a14:useLocalDpi xmlns:a14="http://schemas.microsoft.com/office/drawing/2010/main" val="0"/>
              </a:ext>
            </a:extLst>
          </a:blip>
          <a:srcRect l="6954" t="4109" r="2708" b="1370"/>
          <a:stretch>
            <a:fillRect/>
          </a:stretch>
        </p:blipFill>
        <p:spPr>
          <a:xfrm>
            <a:off x="2178050" y="1235075"/>
            <a:ext cx="7835900" cy="5257800"/>
          </a:xfrm>
          <a:prstGeom prst="rect">
            <a:avLst/>
          </a:prstGeom>
        </p:spPr>
      </p:pic>
    </p:spTree>
    <p:extLst>
      <p:ext uri="{BB962C8B-B14F-4D97-AF65-F5344CB8AC3E}">
        <p14:creationId xmlns:p14="http://schemas.microsoft.com/office/powerpoint/2010/main" val="854711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7E863-B948-3DD7-D2DA-8698D4174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268F5-D0F4-FA87-CF6F-4E0359C16A3C}"/>
              </a:ext>
            </a:extLst>
          </p:cNvPr>
          <p:cNvSpPr>
            <a:spLocks noGrp="1"/>
          </p:cNvSpPr>
          <p:nvPr>
            <p:ph type="title"/>
          </p:nvPr>
        </p:nvSpPr>
        <p:spPr>
          <a:xfrm>
            <a:off x="838200" y="365125"/>
            <a:ext cx="10515600" cy="1122333"/>
          </a:xfrm>
        </p:spPr>
        <p:txBody>
          <a:bodyPr>
            <a:normAutofit fontScale="90000"/>
          </a:bodyPr>
          <a:lstStyle/>
          <a:p>
            <a:pPr algn="ctr"/>
            <a:r>
              <a:rPr lang="en-IN" b="1" dirty="0"/>
              <a:t>Number of Customers &amp; Percentage Contribution by Segment</a:t>
            </a:r>
          </a:p>
        </p:txBody>
      </p:sp>
      <p:pic>
        <p:nvPicPr>
          <p:cNvPr id="9" name="Picture 8">
            <a:extLst>
              <a:ext uri="{FF2B5EF4-FFF2-40B4-BE49-F238E27FC236}">
                <a16:creationId xmlns:a16="http://schemas.microsoft.com/office/drawing/2014/main" id="{16597544-AA13-B0E9-107D-594E6EE1DE72}"/>
              </a:ext>
            </a:extLst>
          </p:cNvPr>
          <p:cNvPicPr>
            <a:picLocks noChangeAspect="1"/>
          </p:cNvPicPr>
          <p:nvPr/>
        </p:nvPicPr>
        <p:blipFill>
          <a:blip r:embed="rId3">
            <a:extLst>
              <a:ext uri="{28A0092B-C50C-407E-A947-70E740481C1C}">
                <a14:useLocalDpi xmlns:a14="http://schemas.microsoft.com/office/drawing/2010/main" val="0"/>
              </a:ext>
            </a:extLst>
          </a:blip>
          <a:srcRect l="4742" r="4988" b="3925"/>
          <a:stretch>
            <a:fillRect/>
          </a:stretch>
        </p:blipFill>
        <p:spPr>
          <a:xfrm>
            <a:off x="419101" y="1988694"/>
            <a:ext cx="5486400" cy="4247005"/>
          </a:xfrm>
          <a:prstGeom prst="rect">
            <a:avLst/>
          </a:prstGeom>
        </p:spPr>
      </p:pic>
      <p:pic>
        <p:nvPicPr>
          <p:cNvPr id="11" name="Picture 10">
            <a:extLst>
              <a:ext uri="{FF2B5EF4-FFF2-40B4-BE49-F238E27FC236}">
                <a16:creationId xmlns:a16="http://schemas.microsoft.com/office/drawing/2014/main" id="{A3FAD46F-5844-DE6F-A200-6EDE8566812F}"/>
              </a:ext>
            </a:extLst>
          </p:cNvPr>
          <p:cNvPicPr>
            <a:picLocks noChangeAspect="1"/>
          </p:cNvPicPr>
          <p:nvPr/>
        </p:nvPicPr>
        <p:blipFill>
          <a:blip r:embed="rId4">
            <a:extLst>
              <a:ext uri="{28A0092B-C50C-407E-A947-70E740481C1C}">
                <a14:useLocalDpi xmlns:a14="http://schemas.microsoft.com/office/drawing/2010/main" val="0"/>
              </a:ext>
            </a:extLst>
          </a:blip>
          <a:srcRect l="5004" b="4460"/>
          <a:stretch>
            <a:fillRect/>
          </a:stretch>
        </p:blipFill>
        <p:spPr>
          <a:xfrm>
            <a:off x="6096000" y="1988696"/>
            <a:ext cx="5956300" cy="4247004"/>
          </a:xfrm>
          <a:prstGeom prst="rect">
            <a:avLst/>
          </a:prstGeom>
        </p:spPr>
      </p:pic>
    </p:spTree>
    <p:extLst>
      <p:ext uri="{BB962C8B-B14F-4D97-AF65-F5344CB8AC3E}">
        <p14:creationId xmlns:p14="http://schemas.microsoft.com/office/powerpoint/2010/main" val="1313232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21A7B-7560-E876-B28A-28246DA8B382}"/>
              </a:ext>
            </a:extLst>
          </p:cNvPr>
          <p:cNvSpPr>
            <a:spLocks noGrp="1"/>
          </p:cNvSpPr>
          <p:nvPr>
            <p:ph type="title"/>
          </p:nvPr>
        </p:nvSpPr>
        <p:spPr>
          <a:xfrm>
            <a:off x="838200" y="254001"/>
            <a:ext cx="10515600" cy="685800"/>
          </a:xfrm>
        </p:spPr>
        <p:txBody>
          <a:bodyPr>
            <a:normAutofit fontScale="90000"/>
          </a:bodyPr>
          <a:lstStyle/>
          <a:p>
            <a:r>
              <a:rPr lang="en-IN" b="1" dirty="0"/>
              <a:t>Dashboard</a:t>
            </a:r>
          </a:p>
        </p:txBody>
      </p:sp>
      <p:pic>
        <p:nvPicPr>
          <p:cNvPr id="4" name="Picture 3">
            <a:extLst>
              <a:ext uri="{FF2B5EF4-FFF2-40B4-BE49-F238E27FC236}">
                <a16:creationId xmlns:a16="http://schemas.microsoft.com/office/drawing/2014/main" id="{C40FA938-CF1E-7625-FF17-8E3349ACC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939801"/>
            <a:ext cx="10198100" cy="5375275"/>
          </a:xfrm>
          <a:prstGeom prst="rect">
            <a:avLst/>
          </a:prstGeom>
        </p:spPr>
      </p:pic>
    </p:spTree>
    <p:extLst>
      <p:ext uri="{BB962C8B-B14F-4D97-AF65-F5344CB8AC3E}">
        <p14:creationId xmlns:p14="http://schemas.microsoft.com/office/powerpoint/2010/main" val="149037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757E7-CD4F-8025-65C4-C4AE7567EFAF}"/>
              </a:ext>
            </a:extLst>
          </p:cNvPr>
          <p:cNvSpPr>
            <a:spLocks noGrp="1"/>
          </p:cNvSpPr>
          <p:nvPr>
            <p:ph type="title"/>
          </p:nvPr>
        </p:nvSpPr>
        <p:spPr/>
        <p:txBody>
          <a:bodyPr>
            <a:normAutofit/>
          </a:bodyPr>
          <a:lstStyle/>
          <a:p>
            <a:r>
              <a:rPr lang="en-IN" sz="4000" b="1" dirty="0"/>
              <a:t>Recommendations for </a:t>
            </a:r>
            <a:r>
              <a:rPr lang="en-US" sz="4000" b="1" dirty="0"/>
              <a:t>Top-Tier / Loyal Customers</a:t>
            </a:r>
            <a:endParaRPr lang="en-IN" sz="4000" b="1" dirty="0"/>
          </a:p>
        </p:txBody>
      </p:sp>
      <p:sp>
        <p:nvSpPr>
          <p:cNvPr id="3" name="Content Placeholder 2">
            <a:extLst>
              <a:ext uri="{FF2B5EF4-FFF2-40B4-BE49-F238E27FC236}">
                <a16:creationId xmlns:a16="http://schemas.microsoft.com/office/drawing/2014/main" id="{5571DC2F-B997-4704-852F-D554612CA364}"/>
              </a:ext>
            </a:extLst>
          </p:cNvPr>
          <p:cNvSpPr>
            <a:spLocks noGrp="1"/>
          </p:cNvSpPr>
          <p:nvPr>
            <p:ph idx="1"/>
          </p:nvPr>
        </p:nvSpPr>
        <p:spPr>
          <a:xfrm>
            <a:off x="838200" y="1943101"/>
            <a:ext cx="10515600" cy="4233862"/>
          </a:xfrm>
        </p:spPr>
        <p:txBody>
          <a:bodyPr>
            <a:normAutofit/>
          </a:bodyPr>
          <a:lstStyle/>
          <a:p>
            <a:pPr marL="0" indent="0">
              <a:buNone/>
            </a:pPr>
            <a:r>
              <a:rPr lang="en-US" sz="2400" b="1" dirty="0"/>
              <a:t>Goal:</a:t>
            </a:r>
            <a:r>
              <a:rPr lang="en-US" sz="2400" dirty="0"/>
              <a:t> Keep best customers happy and loyal.</a:t>
            </a:r>
            <a:br>
              <a:rPr lang="en-US" sz="2400" dirty="0"/>
            </a:br>
            <a:r>
              <a:rPr lang="en-US" sz="2400" b="1" dirty="0"/>
              <a:t>Suggestions:</a:t>
            </a:r>
            <a:endParaRPr lang="en-US" sz="2400" dirty="0"/>
          </a:p>
          <a:p>
            <a:r>
              <a:rPr lang="en-US" sz="2400" dirty="0"/>
              <a:t>Offer loyalty programs or early access to sales</a:t>
            </a:r>
          </a:p>
          <a:p>
            <a:r>
              <a:rPr lang="en-US" sz="2400" dirty="0"/>
              <a:t>Send personalized</a:t>
            </a:r>
            <a:r>
              <a:rPr lang="en-US" sz="2400" b="1" dirty="0"/>
              <a:t> Top-Tier / Loyal Customers</a:t>
            </a:r>
            <a:r>
              <a:rPr lang="en-US" sz="2400" dirty="0"/>
              <a:t> thank-you or anniversary messages</a:t>
            </a:r>
          </a:p>
          <a:p>
            <a:r>
              <a:rPr lang="en-US" sz="2400" dirty="0"/>
              <a:t>Provide priority support or free shipping</a:t>
            </a:r>
          </a:p>
          <a:p>
            <a:r>
              <a:rPr lang="en-US" sz="2400" dirty="0"/>
              <a:t>Introduce referral bonuses</a:t>
            </a:r>
          </a:p>
        </p:txBody>
      </p:sp>
    </p:spTree>
    <p:extLst>
      <p:ext uri="{BB962C8B-B14F-4D97-AF65-F5344CB8AC3E}">
        <p14:creationId xmlns:p14="http://schemas.microsoft.com/office/powerpoint/2010/main" val="3674439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26475-9B8A-3DFD-A5B7-433FC266C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CEE54-DE87-B2D3-D9BA-B90A8204D85A}"/>
              </a:ext>
            </a:extLst>
          </p:cNvPr>
          <p:cNvSpPr>
            <a:spLocks noGrp="1"/>
          </p:cNvSpPr>
          <p:nvPr>
            <p:ph type="title"/>
          </p:nvPr>
        </p:nvSpPr>
        <p:spPr/>
        <p:txBody>
          <a:bodyPr>
            <a:normAutofit/>
          </a:bodyPr>
          <a:lstStyle/>
          <a:p>
            <a:r>
              <a:rPr lang="en-IN" sz="4000" b="1" dirty="0"/>
              <a:t>Recommendations for </a:t>
            </a:r>
            <a:r>
              <a:rPr lang="en-US" sz="4000" b="1" dirty="0"/>
              <a:t>Mid-Tier Customers</a:t>
            </a:r>
            <a:endParaRPr lang="en-IN" sz="4000" b="1" dirty="0"/>
          </a:p>
        </p:txBody>
      </p:sp>
      <p:sp>
        <p:nvSpPr>
          <p:cNvPr id="3" name="Content Placeholder 2">
            <a:extLst>
              <a:ext uri="{FF2B5EF4-FFF2-40B4-BE49-F238E27FC236}">
                <a16:creationId xmlns:a16="http://schemas.microsoft.com/office/drawing/2014/main" id="{2891CACC-26D1-DD27-7868-8E730027535A}"/>
              </a:ext>
            </a:extLst>
          </p:cNvPr>
          <p:cNvSpPr>
            <a:spLocks noGrp="1"/>
          </p:cNvSpPr>
          <p:nvPr>
            <p:ph idx="1"/>
          </p:nvPr>
        </p:nvSpPr>
        <p:spPr>
          <a:xfrm>
            <a:off x="838200" y="1943101"/>
            <a:ext cx="10515600" cy="4233862"/>
          </a:xfrm>
        </p:spPr>
        <p:txBody>
          <a:bodyPr>
            <a:normAutofit/>
          </a:bodyPr>
          <a:lstStyle/>
          <a:p>
            <a:pPr marL="0" indent="0">
              <a:buNone/>
            </a:pPr>
            <a:r>
              <a:rPr lang="en-US" sz="2400" b="1" dirty="0"/>
              <a:t>Goal:</a:t>
            </a:r>
            <a:r>
              <a:rPr lang="en-US" sz="2400" dirty="0"/>
              <a:t> Encourage moderate buyers to spend more.</a:t>
            </a:r>
            <a:br>
              <a:rPr lang="en-US" sz="2400" dirty="0"/>
            </a:br>
            <a:r>
              <a:rPr lang="en-US" sz="2400" b="1" dirty="0"/>
              <a:t>Suggestions:</a:t>
            </a:r>
            <a:endParaRPr lang="en-US" sz="2400" dirty="0"/>
          </a:p>
          <a:p>
            <a:r>
              <a:rPr lang="en-US" sz="2400" dirty="0"/>
              <a:t>Recommend complementary or higher-value products</a:t>
            </a:r>
          </a:p>
          <a:p>
            <a:r>
              <a:rPr lang="en-US" sz="2400" dirty="0"/>
              <a:t>Offer discounts or bundled deals</a:t>
            </a:r>
          </a:p>
          <a:p>
            <a:r>
              <a:rPr lang="en-US" sz="2400" dirty="0"/>
              <a:t>Send personalized product suggestions</a:t>
            </a:r>
          </a:p>
        </p:txBody>
      </p:sp>
    </p:spTree>
    <p:extLst>
      <p:ext uri="{BB962C8B-B14F-4D97-AF65-F5344CB8AC3E}">
        <p14:creationId xmlns:p14="http://schemas.microsoft.com/office/powerpoint/2010/main" val="369104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76B5-4EC9-2D14-D724-B856144A2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E7E6B-7116-D154-ED29-CEC5F29A2862}"/>
              </a:ext>
            </a:extLst>
          </p:cNvPr>
          <p:cNvSpPr>
            <a:spLocks noGrp="1"/>
          </p:cNvSpPr>
          <p:nvPr>
            <p:ph type="title"/>
          </p:nvPr>
        </p:nvSpPr>
        <p:spPr/>
        <p:txBody>
          <a:bodyPr>
            <a:normAutofit/>
          </a:bodyPr>
          <a:lstStyle/>
          <a:p>
            <a:r>
              <a:rPr lang="en-IN" sz="4000" b="1" dirty="0"/>
              <a:t>Recommendations for </a:t>
            </a:r>
            <a:r>
              <a:rPr lang="en-US" sz="4000" b="1" dirty="0"/>
              <a:t>Low-Tier / Dormant Customers</a:t>
            </a:r>
            <a:endParaRPr lang="en-IN" sz="4000" b="1" dirty="0"/>
          </a:p>
        </p:txBody>
      </p:sp>
      <p:sp>
        <p:nvSpPr>
          <p:cNvPr id="3" name="Content Placeholder 2">
            <a:extLst>
              <a:ext uri="{FF2B5EF4-FFF2-40B4-BE49-F238E27FC236}">
                <a16:creationId xmlns:a16="http://schemas.microsoft.com/office/drawing/2014/main" id="{FF87AC15-FC3B-F4EC-EFCE-A73BBC1313AD}"/>
              </a:ext>
            </a:extLst>
          </p:cNvPr>
          <p:cNvSpPr>
            <a:spLocks noGrp="1"/>
          </p:cNvSpPr>
          <p:nvPr>
            <p:ph idx="1"/>
          </p:nvPr>
        </p:nvSpPr>
        <p:spPr>
          <a:xfrm>
            <a:off x="838200" y="1943101"/>
            <a:ext cx="10515600" cy="4233862"/>
          </a:xfrm>
        </p:spPr>
        <p:txBody>
          <a:bodyPr>
            <a:normAutofit/>
          </a:bodyPr>
          <a:lstStyle/>
          <a:p>
            <a:pPr marL="0" indent="0">
              <a:buNone/>
            </a:pPr>
            <a:r>
              <a:rPr lang="en-US" sz="2400" b="1" dirty="0"/>
              <a:t>Goal:</a:t>
            </a:r>
            <a:r>
              <a:rPr lang="en-US" sz="2400" dirty="0"/>
              <a:t> Bring back inactive or low-value customers.</a:t>
            </a:r>
            <a:br>
              <a:rPr lang="en-US" sz="2400" dirty="0"/>
            </a:br>
            <a:r>
              <a:rPr lang="en-US" sz="2400" b="1" dirty="0"/>
              <a:t>Suggestions:</a:t>
            </a:r>
            <a:endParaRPr lang="en-US" sz="2400" dirty="0"/>
          </a:p>
          <a:p>
            <a:r>
              <a:rPr lang="en-US" sz="2400" dirty="0"/>
              <a:t>Send reactivation emails with special discounts</a:t>
            </a:r>
          </a:p>
          <a:p>
            <a:r>
              <a:rPr lang="en-US" sz="2400" dirty="0"/>
              <a:t>Offer time-limited coupons for urgency</a:t>
            </a:r>
          </a:p>
          <a:p>
            <a:r>
              <a:rPr lang="en-US" sz="2400" dirty="0"/>
              <a:t>Request feedback or reasons for inactivity</a:t>
            </a:r>
          </a:p>
          <a:p>
            <a:r>
              <a:rPr lang="en-US" sz="2400" dirty="0"/>
              <a:t>Use targeted ads to remind them of past interests</a:t>
            </a:r>
          </a:p>
        </p:txBody>
      </p:sp>
    </p:spTree>
    <p:extLst>
      <p:ext uri="{BB962C8B-B14F-4D97-AF65-F5344CB8AC3E}">
        <p14:creationId xmlns:p14="http://schemas.microsoft.com/office/powerpoint/2010/main" val="180462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E0D6-0656-8D03-243D-18D7EB28B410}"/>
              </a:ext>
            </a:extLst>
          </p:cNvPr>
          <p:cNvSpPr>
            <a:spLocks noGrp="1"/>
          </p:cNvSpPr>
          <p:nvPr>
            <p:ph type="title"/>
          </p:nvPr>
        </p:nvSpPr>
        <p:spPr>
          <a:xfrm>
            <a:off x="838200" y="365125"/>
            <a:ext cx="10515600" cy="6061075"/>
          </a:xfrm>
        </p:spPr>
        <p:txBody>
          <a:bodyPr/>
          <a:lstStyle/>
          <a:p>
            <a:pPr algn="ctr"/>
            <a:r>
              <a:rPr lang="en-IN" dirty="0"/>
              <a:t>Thank You!</a:t>
            </a:r>
          </a:p>
        </p:txBody>
      </p:sp>
    </p:spTree>
    <p:extLst>
      <p:ext uri="{BB962C8B-B14F-4D97-AF65-F5344CB8AC3E}">
        <p14:creationId xmlns:p14="http://schemas.microsoft.com/office/powerpoint/2010/main" val="262469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TotalTime>
  <Words>610</Words>
  <Application>Microsoft Office PowerPoint</Application>
  <PresentationFormat>Widescreen</PresentationFormat>
  <Paragraphs>62</Paragraphs>
  <Slides>18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Customer Segmentation using RFM Analysis</vt:lpstr>
      <vt:lpstr>Problem Statement</vt:lpstr>
      <vt:lpstr>Problem Objective </vt:lpstr>
      <vt:lpstr>Dataset Overview</vt:lpstr>
      <vt:lpstr>Data Cleaning &amp; Preparation </vt:lpstr>
      <vt:lpstr>Removed Duplicate Records</vt:lpstr>
      <vt:lpstr>Dropped Rows with missing(null) values</vt:lpstr>
      <vt:lpstr>Eliminated negative or zero values</vt:lpstr>
      <vt:lpstr>Average Sale by each Country</vt:lpstr>
      <vt:lpstr>RFM Analysis &amp; Customer Segmentation </vt:lpstr>
      <vt:lpstr>Number of Customers by Recency Score &amp;  Monetary Score</vt:lpstr>
      <vt:lpstr>Number of Customers by RFM Score</vt:lpstr>
      <vt:lpstr>Number of Customers &amp; Percentage Contribution by Segment</vt:lpstr>
      <vt:lpstr>Dashboard</vt:lpstr>
      <vt:lpstr>Recommendations for Top-Tier / Loyal Customers</vt:lpstr>
      <vt:lpstr>Recommendations for Mid-Tier Customers</vt:lpstr>
      <vt:lpstr>Recommendations for Low-Tier / Dormant Customers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kaynat sayyed</dc:creator>
  <cp:lastModifiedBy>kaynat sayyed</cp:lastModifiedBy>
  <cp:revision>7</cp:revision>
  <dcterms:created xsi:type="dcterms:W3CDTF">2025-10-12T17:57:38Z</dcterms:created>
  <dcterms:modified xsi:type="dcterms:W3CDTF">2025-10-12T20:08:38Z</dcterms:modified>
</cp:coreProperties>
</file>